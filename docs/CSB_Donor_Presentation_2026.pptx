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02920"/>
            <a:ext cx="1371600" cy="137160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0A5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58952"/>
            <a:ext cx="859536" cy="8595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" y="1993392"/>
            <a:ext cx="1417320" cy="292608"/>
          </a:xfrm>
          <a:prstGeom prst="roundRect">
            <a:avLst>
              <a:gd name="adj" fmla="val 3125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19933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A252F"/>
                </a:solidFill>
              </a:rPr>
              <a:t>SINCE 2009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331720" y="5486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Chinmaya Smiles Back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2331720" y="14630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Empowering Merit. Enabling Dreams.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331720" y="1938528"/>
            <a:ext cx="32004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31720" y="208483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Alumni-Powered Scholarship Initiative  •  Bokaro Steel City, Jharkhand  •  Est. 2009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1168" y="3474720"/>
            <a:ext cx="8942832" cy="157276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5478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36+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914400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Scholars Transformed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0" y="35478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yrs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3657600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Of Continuous Service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0" y="35478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400800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Alumni Members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01168" y="4828032"/>
            <a:ext cx="8942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8090"/>
                </a:solidFill>
              </a:rPr>
              <a:t>www.chinmayasmiles.org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Education Gap Is Real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facing talented students from low-income families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4206240" cy="35661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886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 in India is gated by income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Talented students from working-class families cannot afford school fees, books, and uniforms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support at the Class XI–XII stage, the path to engineering, medicine, and IITs closes permanently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Meritorious students in Bokaro and Jharkhand lose their futures not for lack of ability — but lack of access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First-generation learners have no mentors to navigate competitive exams and career pathways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886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43000"/>
            <a:ext cx="91440" cy="1051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2161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0" y="167335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rural students drop out before Class 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3886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377440"/>
            <a:ext cx="91440" cy="10515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4505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₹15,000+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290779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fees — impossible for daily-wage families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611880"/>
            <a:ext cx="3886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611880"/>
            <a:ext cx="9144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6850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8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29200" y="414223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meritorious Jharkhand students misses higher education due to poverty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of Educational Inequality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Jharkhand &amp; India – the numbers that demand action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42416"/>
            <a:ext cx="9144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A8DADC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320M+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85623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enrolled in Indian schools — but quality varies enormously by income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82112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A8DADC">
                <a:alpha val="5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37160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76472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3291840" y="185623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Jharkhand student dropout rate before completing secondary education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016752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A8DADC">
                <a:alpha val="5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7160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11112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6126480" y="185623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families cannot afford private school fees above ₹5,000/year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47472" y="297180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A8DADC">
                <a:alpha val="5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10896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183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</a:t>
            </a:r>
            <a:endParaRPr lang="en-US" sz="2800" dirty="0"/>
          </a:p>
        </p:txBody>
      </p:sp>
      <p:sp>
        <p:nvSpPr>
          <p:cNvPr id="20" name="Text 14"/>
          <p:cNvSpPr/>
          <p:nvPr/>
        </p:nvSpPr>
        <p:spPr>
          <a:xfrm>
            <a:off x="457200" y="359359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lower-income students who reach IIT/NIT level colleges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182112" y="297180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A8DADC">
                <a:alpha val="5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310896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76472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 Lakh+</a:t>
            </a:r>
            <a:endParaRPr lang="en-US" sz="2800" dirty="0"/>
          </a:p>
        </p:txBody>
      </p:sp>
      <p:sp>
        <p:nvSpPr>
          <p:cNvPr id="24" name="Text 17"/>
          <p:cNvSpPr/>
          <p:nvPr/>
        </p:nvSpPr>
        <p:spPr>
          <a:xfrm>
            <a:off x="3291840" y="359359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earnings gap between school dropouts and graduates in India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Education Is the Ultimate Equalizer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scholarship can change a family's trajectory for generations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19202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71600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0299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Mobility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2578608"/>
            <a:ext cx="17190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is the single strongest predictor of income. A Class XII completion can 3× lifetime earning potential in India.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118872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1188720"/>
            <a:ext cx="1920240" cy="731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371600"/>
            <a:ext cx="585216" cy="5852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20299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Poverty Cycles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578608" y="2578608"/>
            <a:ext cx="17190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Educated children are 60% more likely to ensure their own children complete school — compounding impact across generations.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17720" y="118872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17720" y="1188720"/>
            <a:ext cx="1920240" cy="7315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371600"/>
            <a:ext cx="585216" cy="5852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09160" y="20299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Development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727448" y="2578608"/>
            <a:ext cx="17190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CSB scholar becomes a mentor, a professional, and a taxpayer — strengthening the entire Bokaro community.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766560" y="118872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66560" y="1188720"/>
            <a:ext cx="192024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1371600"/>
            <a:ext cx="585216" cy="5852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20299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Progress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76288" y="2578608"/>
            <a:ext cx="17190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demographic dividend is wasted when talent sits in poverty. Every scholar we unlock adds to the nation's human capital.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Chinmaya Smiles Back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of alumni united by one mission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4663440" cy="35661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280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2801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737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17373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2017 — Educational Charitable Trust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1945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80G Accreditation: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21945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(since 2023) — tax-exempt donations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2651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12A Certification: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26517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(since 2023)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3108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31089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Bokaro Steel City, Jharkhand, India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" y="3566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Partner: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35661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Chinmaya Vidyalaya Bokaro (CBSE)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023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40233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alumni across India and the globe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1170432"/>
            <a:ext cx="1737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0" y="144475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394960" y="20848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 Supported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78040" y="1170432"/>
            <a:ext cx="1737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78040" y="144475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18th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269480" y="20848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 of Vidya Vritti (2026)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2980944"/>
            <a:ext cx="1737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03520" y="325526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394960" y="38953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Volunteer-Driven Operations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78040" y="2980944"/>
            <a:ext cx="1737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78040" y="325526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269480" y="38953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overhead on small donors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Mission &amp; Vision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star that guides every decision at CSB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4114800" cy="36118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MISSION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64208"/>
            <a:ext cx="868680" cy="868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633472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0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"To identify meritorious students from economically humble backgrounds and empower them through scholarships, mentorship, and community to achieve their full academic potential."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170432"/>
            <a:ext cx="4114800" cy="3611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170432"/>
            <a:ext cx="4114800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A252F"/>
                </a:solidFill>
              </a:rPr>
              <a:t>VISION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64208"/>
            <a:ext cx="868680" cy="868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2633472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world where every talented student from Bokaro and Jharkhand — regardless of family income — has an equal shot at academic excellence, professional success, and a life of dignity."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Three-Pillar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support that goes beyond financial aid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651760" cy="8229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43584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12252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Support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9848" y="16093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cost barrier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9768" y="2084832"/>
            <a:ext cx="24323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fees covered in full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uniform provided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and study materials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fee waived by school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runs for 2 full years (Class XI–XII)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72968" y="1170432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72968" y="1170432"/>
            <a:ext cx="26517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43584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22776" y="12252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Mentorship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922776" y="16093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from those who've walked the path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282696" y="2084832"/>
            <a:ext cx="24323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mentor assigned to each scholar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check-ins and counselling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guidance from alumni professionals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preparation strategy support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support through peer network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25896" y="1170432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25896" y="1170432"/>
            <a:ext cx="2651760" cy="82296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243584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75704" y="12252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775704" y="16093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that lasts a lifetime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135624" y="2084832"/>
            <a:ext cx="24323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200+ alumni across industries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'Baatein' – inspirational sessions by leaders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network for internships and jobs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 become mentors for next cohort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online alumni community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Programs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initiatives, one shared mission — no child left behind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651760" cy="9144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5486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24712" y="1389888"/>
            <a:ext cx="1691640" cy="228600"/>
          </a:xfrm>
          <a:prstGeom prst="roundRect">
            <a:avLst>
              <a:gd name="adj" fmla="val 20000"/>
            </a:avLst>
          </a:prstGeom>
          <a:solidFill>
            <a:srgbClr val="1D3557">
              <a:alpha val="20000"/>
            </a:srgbClr>
          </a:solidFill>
          <a:ln w="12700">
            <a:solidFill>
              <a:srgbClr val="1D3557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24712" y="13898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1D3557"/>
                </a:solidFill>
              </a:rPr>
              <a:t>FLAGSHIP SCHOLARSHIP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29768" y="171907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Vidya Vritti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29768" y="2194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41832" y="2194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XI–XII students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29768" y="2761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41832" y="276148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tuition, uniform &amp; books for 2 years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9768" y="33284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41832" y="3328416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Class X merit + family income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29768" y="3913632"/>
            <a:ext cx="2432304" cy="914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" y="395020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Now in 18th edition | 36+ scholars since 2009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172968" y="1170432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172968" y="1170432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71600"/>
            <a:ext cx="548640" cy="54864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977640" y="1389888"/>
            <a:ext cx="1691640" cy="228600"/>
          </a:xfrm>
          <a:prstGeom prst="roundRect">
            <a:avLst>
              <a:gd name="adj" fmla="val 20000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977640" y="13898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28090"/>
                </a:solidFill>
              </a:rPr>
              <a:t>MERIT SCHOLARSHIP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3282696" y="171907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Pratibha Poshan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3282696" y="2194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794760" y="2194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VII–X students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282696" y="2761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794760" y="276148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monthly scholarship for ongoing education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282696" y="33284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794760" y="3328416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CSB-conducted written test + income verification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282696" y="3913632"/>
            <a:ext cx="2432304" cy="914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82696" y="395020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Feeds talent pipeline into Vidya Vritti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6025896" y="1170432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025896" y="1170432"/>
            <a:ext cx="2651760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371600"/>
            <a:ext cx="548640" cy="548640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6830568" y="1389888"/>
            <a:ext cx="1691640" cy="228600"/>
          </a:xfrm>
          <a:prstGeom prst="roundRect">
            <a:avLst>
              <a:gd name="adj" fmla="val 20000"/>
            </a:avLst>
          </a:prstGeom>
          <a:solidFill>
            <a:srgbClr val="F0A500">
              <a:alpha val="20000"/>
            </a:srgbClr>
          </a:solidFill>
          <a:ln w="12700">
            <a:solidFill>
              <a:srgbClr val="F0A500">
                <a:alpha val="5000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830568" y="13898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0A500"/>
                </a:solidFill>
              </a:rPr>
              <a:t>INSPIRATION SESSIONS</a:t>
            </a:r>
            <a:endParaRPr lang="en-US" sz="700" dirty="0"/>
          </a:p>
        </p:txBody>
      </p:sp>
      <p:sp>
        <p:nvSpPr>
          <p:cNvPr id="38" name="Text 33"/>
          <p:cNvSpPr/>
          <p:nvPr/>
        </p:nvSpPr>
        <p:spPr>
          <a:xfrm>
            <a:off x="6135624" y="171907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Baatein</a:t>
            </a:r>
            <a:endParaRPr lang="en-US" sz="1700" dirty="0"/>
          </a:p>
        </p:txBody>
      </p:sp>
      <p:sp>
        <p:nvSpPr>
          <p:cNvPr id="39" name="Text 34"/>
          <p:cNvSpPr/>
          <p:nvPr/>
        </p:nvSpPr>
        <p:spPr>
          <a:xfrm>
            <a:off x="6135624" y="2194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6647688" y="2194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Chinmaya Vidyalaya students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6135624" y="2761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6647688" y="276148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alumni-led interactive sessions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6135624" y="33284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6647688" y="3328416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all; focused on motivation &amp; career awareness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6135624" y="3913632"/>
            <a:ext cx="2432304" cy="914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135624" y="3950208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Engineers, doctors, entrepreneurs share journeys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Scholar Journey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aspiration to achievement — how CSB transforms a life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42416"/>
            <a:ext cx="9144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514600"/>
            <a:ext cx="7863840" cy="54864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261872"/>
            <a:ext cx="402336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6968" y="1664208"/>
            <a:ext cx="36576" cy="475488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249424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249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1752" y="28712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01752" y="3236976"/>
            <a:ext cx="14996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from low-income family applies after Class X. CSB reviews marks and household income.</a:t>
            </a:r>
            <a:endParaRPr lang="en-US" sz="8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976" y="1261872"/>
            <a:ext cx="402336" cy="40233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76856" y="1664208"/>
            <a:ext cx="36576" cy="475488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029968" y="2249424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29968" y="2249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691640" y="28712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691640" y="3236976"/>
            <a:ext cx="14996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but compassionate process. Two scholars chosen by committee of alumni.</a:t>
            </a:r>
            <a:endParaRPr lang="en-US" sz="8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1261872"/>
            <a:ext cx="402336" cy="40233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66744" y="1664208"/>
            <a:ext cx="36576" cy="475488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419856" y="2249424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19856" y="2249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081528" y="28712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 Begins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081528" y="3236976"/>
            <a:ext cx="14996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fees, uniform &amp; books arranged. Scholar joins Chinmaya Vidyalaya for Class XI.</a:t>
            </a:r>
            <a:endParaRPr lang="en-US" sz="8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261872"/>
            <a:ext cx="402336" cy="40233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056632" y="1664208"/>
            <a:ext cx="36576" cy="475488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809744" y="2249424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809744" y="2249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471416" y="28712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Mentorship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471416" y="3236976"/>
            <a:ext cx="14996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CSB mentor connects monthly. Career counselling, exam strategy, emotional support.</a:t>
            </a:r>
            <a:endParaRPr lang="en-US" sz="8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61872"/>
            <a:ext cx="402336" cy="40233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446520" y="1664208"/>
            <a:ext cx="36576" cy="475488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199632" y="2249424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199632" y="2249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861304" y="28712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Exams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861304" y="3236976"/>
            <a:ext cx="14996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 sits Class XII boards with full institutional and alumni support behind them.</a:t>
            </a:r>
            <a:endParaRPr lang="en-US" sz="85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528" y="1261872"/>
            <a:ext cx="402336" cy="402336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7836408" y="1664208"/>
            <a:ext cx="36576" cy="475488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7589520" y="2249424"/>
            <a:ext cx="530352" cy="5303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7589520" y="2249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7251192" y="28712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7251192" y="3236976"/>
            <a:ext cx="14996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College, IIT, career. Scholar joins the CSB alumni network and mentors the next cohort.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the CSB Model Unique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Alumni-powered education support with institutional backbone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109728" cy="169164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0759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618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Partnership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partnership with Chinmaya Vidyalaya Bokaro means scholars receive accredited CBSE education in a nurturing environment. The school co-invests by waiving bus fees and providing uniforms — genuine collaboration, not charity.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27448" y="117043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27448" y="1170432"/>
            <a:ext cx="109728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307592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04688" y="12618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Peer-Led Mentorship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10328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are recent alumni — people who took the same exams, walked the same corridors. Their advice is credible, relatable, and practical. This is mentorship that feels less like advice and more like a conversation with a sibling.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" y="304495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044952"/>
            <a:ext cx="109728" cy="16916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182112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1363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Network Access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2920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'Baatein' sessions and alumni connections, scholars are exposed to engineers at ISRO, doctors, fintech professionals, and entrepreneurs — well before they must choose a career path.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27448" y="304495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27448" y="3044952"/>
            <a:ext cx="109728" cy="169164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182112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04688" y="31363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Scholar-to-Mentor Pipeline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10328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scholars return as mentors. Nitesh — Arts topper, Jharkhand state 3rd — now guides younger students. Shivani from IIT Bombay mentors the next generation. The flywheel compounds every year.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Years of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that represent real people, real futures, real change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9144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028090">
              <a:alpha val="18000"/>
            </a:srgbClr>
          </a:solidFill>
          <a:ln w="12700">
            <a:solidFill>
              <a:srgbClr val="A8DADC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47472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Lives Transformed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23042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DADC"/>
                </a:solidFill>
              </a:rPr>
              <a:t>scholars since 2009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27832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028090">
              <a:alpha val="18000"/>
            </a:srgbClr>
          </a:solidFill>
          <a:ln w="12700">
            <a:solidFill>
              <a:srgbClr val="A8DADC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27832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Alumni-Funded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27832" y="23042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DADC"/>
                </a:solidFill>
              </a:rPr>
              <a:t>no corporate dependency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08192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028090">
              <a:alpha val="18000"/>
            </a:srgbClr>
          </a:solidFill>
          <a:ln w="12700">
            <a:solidFill>
              <a:srgbClr val="A8DADC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18th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108192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Consecutive Year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08192" y="23042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DADC"/>
                </a:solidFill>
              </a:rPr>
              <a:t>unbroken since founding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2944368"/>
            <a:ext cx="1609344" cy="1810512"/>
          </a:xfrm>
          <a:prstGeom prst="roundRect">
            <a:avLst>
              <a:gd name="adj" fmla="val 4545"/>
            </a:avLst>
          </a:prstGeom>
          <a:solidFill>
            <a:srgbClr val="0A2540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017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IIT Bombay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" y="36576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 Shivani: Electrical Engineering dual degree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56816" y="2944368"/>
            <a:ext cx="1609344" cy="1810512"/>
          </a:xfrm>
          <a:prstGeom prst="roundRect">
            <a:avLst>
              <a:gd name="adj" fmla="val 4545"/>
            </a:avLst>
          </a:prstGeom>
          <a:solidFill>
            <a:srgbClr val="0A2540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29968" y="3017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29968" y="36576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 Nitesh: Arts topper, Bokaro district &amp; 3rd in Jharkhand state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30752" y="2944368"/>
            <a:ext cx="1609344" cy="1810512"/>
          </a:xfrm>
          <a:prstGeom prst="roundRect">
            <a:avLst>
              <a:gd name="adj" fmla="val 4545"/>
            </a:avLst>
          </a:prstGeom>
          <a:solidFill>
            <a:srgbClr val="0A2540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03904" y="3017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803904" y="36576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members contributing from across India &amp; world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04688" y="2944368"/>
            <a:ext cx="1609344" cy="1810512"/>
          </a:xfrm>
          <a:prstGeom prst="roundRect">
            <a:avLst>
              <a:gd name="adj" fmla="val 4545"/>
            </a:avLst>
          </a:prstGeom>
          <a:solidFill>
            <a:srgbClr val="0A2540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017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77840" y="36576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programs covering Class VII to XII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78624" y="2944368"/>
            <a:ext cx="1609344" cy="1810512"/>
          </a:xfrm>
          <a:prstGeom prst="roundRect">
            <a:avLst>
              <a:gd name="adj" fmla="val 4545"/>
            </a:avLst>
          </a:prstGeom>
          <a:solidFill>
            <a:srgbClr val="0A2540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51776" y="3017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80G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51776" y="36576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Tax-exempt — 50% of donation deductible from your taxes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 Stories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lives. Two families changed forever.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4160520" cy="36118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605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SHIVANI MISHRA  —  VIDYA VRITTI SCHOLAR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00200" y="1609344"/>
            <a:ext cx="914400" cy="914400"/>
          </a:xfrm>
          <a:prstGeom prst="ellipse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A8DAD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0512" y="1810512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6334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IIT Bombay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11480" y="30175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DADC"/>
                </a:solidFill>
              </a:rPr>
              <a:t>Electrical Engineering — Dual Degree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" y="3401568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"Chinmaya Smiles Back did not just pay my fees — they believed in me at a time when the weight of my family's circumstances could have crushed that belief. This scholarship gave me two years to prove myself and a lifetime of opportunity."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1170432"/>
            <a:ext cx="4160520" cy="36118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170432"/>
            <a:ext cx="4160520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117043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A252F"/>
                </a:solidFill>
              </a:rPr>
              <a:t>NITESH KR MAHATO  —  VIDYA VRITTI SCHOLAR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961888" y="1609344"/>
            <a:ext cx="914400" cy="914400"/>
          </a:xfrm>
          <a:prstGeom prst="ellipse">
            <a:avLst/>
          </a:prstGeom>
          <a:solidFill>
            <a:srgbClr val="F0A500">
              <a:alpha val="40000"/>
            </a:srgbClr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810512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54880" y="26334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 — Bokaro District Topper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754880" y="30175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DADC"/>
                </a:solidFill>
              </a:rPr>
              <a:t>Arts Stream  •  3rd Rank: Entire Jharkhand State  •  Class XII 2020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773168" y="3429000"/>
            <a:ext cx="38587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came from a family where no one had completed school before me. CSB's scholarship was not just money — it was a message: you belong here. That message carried me through every difficult exam night."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Ripple Effect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scholarship creates concentric rings of change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417320"/>
            <a:ext cx="2194560" cy="2194560"/>
          </a:xfrm>
          <a:prstGeom prst="ellipse">
            <a:avLst/>
          </a:prstGeom>
          <a:solidFill>
            <a:srgbClr val="1D3557"/>
          </a:solidFill>
          <a:ln w="38100">
            <a:solidFill>
              <a:srgbClr val="F0A5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828800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926080" y="868680"/>
            <a:ext cx="3291840" cy="329184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77440" y="320040"/>
            <a:ext cx="4389120" cy="4389120"/>
          </a:xfrm>
          <a:prstGeom prst="ellipse">
            <a:avLst/>
          </a:prstGeom>
          <a:solidFill>
            <a:srgbClr val="457B9D">
              <a:alpha val="10000"/>
            </a:srgbClr>
          </a:solidFill>
          <a:ln w="12700">
            <a:solidFill>
              <a:srgbClr val="457B9D">
                <a:alpha val="5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88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82880" y="1188720"/>
            <a:ext cx="25603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" y="1335024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Income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92608" y="1691640"/>
            <a:ext cx="23408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Educated child earns 3× more — supporting parents, siblings, entire household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2880" y="29260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82880" y="2926080"/>
            <a:ext cx="25603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2608" y="3072384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Generation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2608" y="3429000"/>
            <a:ext cx="23408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 ensure their children complete education — breaking the cycle permanently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83680" y="1188720"/>
            <a:ext cx="25603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1335024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Inspiration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93408" y="1691640"/>
            <a:ext cx="23408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Classmates see what's possible; CSB scholars raise the aspiration ceiling for all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583680" y="29260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83680" y="2926080"/>
            <a:ext cx="25603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93408" y="3072384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 Network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693408" y="3429000"/>
            <a:ext cx="23408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scholar returns as mentor — compounding CSB's impact without additional cost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371600" y="4553712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71600" y="455371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Every ₹15,000 invested in one scholar generates a lifetime ROI exceeding ₹50 lakh in economic output.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Partners &amp; Ecosystem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pillars that make CSB's model possible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651760" cy="45720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4358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1188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ACADEMIC PARTNER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850392" y="1371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Chinmaya Vidyalaya Bokaro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9768" y="1755648"/>
            <a:ext cx="2432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CBSE-affiliated institution and the home of every CSB scholar. The school co-invests by waiving bus fees, helping source books, and providing the academic environment scholars need. A 17-year institutional partnership built on shared values.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1480" y="3639312"/>
            <a:ext cx="2468880" cy="1024128"/>
          </a:xfrm>
          <a:prstGeom prst="roundRect">
            <a:avLst>
              <a:gd name="adj" fmla="val 6250"/>
            </a:avLst>
          </a:prstGeom>
          <a:solidFill>
            <a:srgbClr val="1D3557">
              <a:alpha val="12000"/>
            </a:srgbClr>
          </a:solidFill>
          <a:ln w="12700">
            <a:solidFill>
              <a:srgbClr val="1D3557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" y="369417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3557"/>
                </a:solidFill>
              </a:rPr>
              <a:t>Key Contribution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84632" y="391363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Waives bus fees • Sources books • Provides academic home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72968" y="1170432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1170432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124358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03320" y="1188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FUNDING &amp; MENTORSHIP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3703320" y="1371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CSB Alumni Network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282696" y="1755648"/>
            <a:ext cx="2432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alumni across India and globally — engineers, doctors, finance professionals, entrepreneurs. They fund scholarships, mentor scholars, conduct Baatein sessions, and coordinate programmes as volunteers. The organisation's most valuable asset.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264408" y="3639312"/>
            <a:ext cx="2468880" cy="1024128"/>
          </a:xfrm>
          <a:prstGeom prst="roundRect">
            <a:avLst>
              <a:gd name="adj" fmla="val 6250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37560" y="369417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Key Contribution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337560" y="391363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100% of operations • 200+ mentors • Global network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025896" y="1170432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25896" y="1170432"/>
            <a:ext cx="2651760" cy="457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243584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56248" y="1188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CORPORATE PARTNER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6556248" y="1371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CSR Opportunity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6135624" y="1755648"/>
            <a:ext cx="2432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 can directly sponsor scholars, fund Pratibha Poshan, or underwrite Baatein sessions. 80G tax benefit applies. CSB provides full transparency — donors receive regular updates on their sponsored scholar's progress.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117336" y="3639312"/>
            <a:ext cx="2468880" cy="1024128"/>
          </a:xfrm>
          <a:prstGeom prst="roundRect">
            <a:avLst>
              <a:gd name="adj" fmla="val 6250"/>
            </a:avLst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5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190488" y="369417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Key Contribution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6190488" y="391363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₹1.5L/scholar/year • Named scholarship options • Impact reports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Transparency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you contribute goes directly to scholars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4572000" cy="365760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2618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Your Contribution Goes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8105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184708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 Vritti scholarship — direct scholar fees, books, uniform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" y="2240280"/>
            <a:ext cx="2304288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5237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256032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Pratibha Poshan — Class VII–X merit scholarships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2953512"/>
            <a:ext cx="592531" cy="9144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2369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327355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Baatein events and outreach programmes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3666744"/>
            <a:ext cx="263347" cy="9144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950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70432" y="398678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Administration, compliance, and banking costs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" y="4379976"/>
            <a:ext cx="131674" cy="91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4279392"/>
            <a:ext cx="4480560" cy="91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3159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8DADC"/>
                </a:solidFill>
              </a:rPr>
              <a:t>Registered Trust | 80G Accredited | 12A Certified | Annual Audit Conducted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66360" y="1170432"/>
            <a:ext cx="365760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30368" y="1207008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₹30,000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492240" y="1261872"/>
            <a:ext cx="36576" cy="62179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12252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52F"/>
                </a:solidFill>
              </a:rPr>
              <a:t>Cost per Vidya Vritti scholar (2 years)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01968" y="1627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Tuition, uniform, books — total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66360" y="2103120"/>
            <a:ext cx="365760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30368" y="213969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₹500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492240" y="2194560"/>
            <a:ext cx="36576" cy="62179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1968" y="21579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52F"/>
                </a:solidFill>
              </a:rPr>
              <a:t>Monthly scholarship per Pratibha Poshan student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01968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Per student, per month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66360" y="3035808"/>
            <a:ext cx="365760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230368" y="3072384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₹2–3L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492240" y="3127248"/>
            <a:ext cx="36576" cy="62179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3090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52F"/>
                </a:solidFill>
              </a:rPr>
              <a:t>Annual operating budget (approx)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01968" y="3493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100% alumni-funded today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166360" y="3968496"/>
            <a:ext cx="365760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230368" y="4005072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6492240" y="4059936"/>
            <a:ext cx="36576" cy="62179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52F"/>
                </a:solidFill>
              </a:rPr>
              <a:t>Tax deduction for donors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01968" y="44256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Under 80G — verifiable with certificate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Volunteer Network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CSB runs entirely on the dedication of its alumni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91440" cy="1783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0759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618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0A500"/>
                </a:solidFill>
              </a:rPr>
              <a:t>THE BACKBONE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005840" y="14447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Contributor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" y="1883664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₹500 to ₹50,000 — contributions at any level fund scholarships. All donations are 80G deductible. Contributors receive regular scholar progress updates.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4632" y="258775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0A500"/>
                </a:solidFill>
              </a:rPr>
              <a:t>→  Donate online at chinmayasmiles.org/donation-form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27448" y="1170432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27448" y="1170432"/>
            <a:ext cx="91440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07592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13248" y="12618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28090"/>
                </a:solidFill>
              </a:rPr>
              <a:t>MONTHLY CONVERSATIONS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5413248" y="14447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 Mentor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92040" y="1883664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2–3 hours/month guiding a scholar. Share exam strategies, career advice, and emotional support. Must be based anywhere — mentoring happens online.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892040" y="258775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</a:rPr>
              <a:t>→  Contact CSB at chinmayasmiles.org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20040" y="31089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108960"/>
            <a:ext cx="91440" cy="1783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46120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32004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D3557"/>
                </a:solidFill>
              </a:rPr>
              <a:t>ON THE GROUND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1005840" y="3383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Coordinator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84632" y="3822192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alumni near Bokaro. Coordinate scholarship selection, school visits, and scholar events. Lead programmes and act as CSB's eyes on the ground.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84632" y="452628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D3557"/>
                </a:solidFill>
              </a:rPr>
              <a:t>→  Preferred: Based in or near Bokaro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727448" y="31089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27448" y="3108960"/>
            <a:ext cx="91440" cy="17830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46120"/>
            <a:ext cx="438912" cy="4389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13248" y="32004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457B9D"/>
                </a:solidFill>
              </a:rPr>
              <a:t>INSPIRE THE NEXT BATCH</a:t>
            </a:r>
            <a:endParaRPr lang="en-US" sz="700" dirty="0"/>
          </a:p>
        </p:txBody>
      </p:sp>
      <p:sp>
        <p:nvSpPr>
          <p:cNvPr id="30" name="Text 24"/>
          <p:cNvSpPr/>
          <p:nvPr/>
        </p:nvSpPr>
        <p:spPr>
          <a:xfrm>
            <a:off x="5413248" y="3383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Baatein Speaker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892040" y="3822192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professional journey with current students. A single session can unlock a student's ambition. Sessions are 1–2 hours, conducted in person or online.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892040" y="452628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57B9D"/>
                </a:solidFill>
              </a:rPr>
              <a:t>→  Any field, any achievement level welcome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 Partnership Opportunities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ADC"/>
                </a:solidFill>
              </a:rPr>
              <a:t>80G accredited | Named scholarship options | Real impact reporting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9144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170432"/>
            <a:ext cx="2651760" cy="3657600"/>
          </a:xfrm>
          <a:prstGeom prst="rect">
            <a:avLst/>
          </a:prstGeom>
          <a:solidFill>
            <a:srgbClr val="028090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70432"/>
            <a:ext cx="265176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70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252F"/>
                </a:solidFill>
              </a:rPr>
              <a:t>GOLD PARTNER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4264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</a:rPr>
              <a:t>₹1.5 Lakh / year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a scholar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243230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1 Vidya Vritti scholar for full 2 years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 named after company or founder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progress reports on scholar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CSR recognition at school events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in CSB annual impact communication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63824" y="1170432"/>
            <a:ext cx="2651760" cy="3657600"/>
          </a:xfrm>
          <a:prstGeom prst="rect">
            <a:avLst/>
          </a:prstGeom>
          <a:solidFill>
            <a:srgbClr val="0A2540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63824" y="1170432"/>
            <a:ext cx="2651760" cy="50292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1170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252F"/>
                </a:solidFill>
              </a:rPr>
              <a:t>SILVER PARTNER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63824" y="14264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</a:rPr>
              <a:t>₹75,000 / year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73552" y="175564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the pipeline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73552" y="2194560"/>
            <a:ext cx="243230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Pratibha Poshan for 5 students (Class VII–X)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logo on CSB communication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Semi-annual impact update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acknowledgement at school events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to send speakers for Baatein sessions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71616" y="1170432"/>
            <a:ext cx="2651760" cy="3657600"/>
          </a:xfrm>
          <a:prstGeom prst="rect">
            <a:avLst/>
          </a:prstGeom>
          <a:solidFill>
            <a:srgbClr val="0A254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1170432"/>
            <a:ext cx="2651760" cy="502920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1170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252F"/>
                </a:solidFill>
              </a:rPr>
              <a:t>BRONZE PARTNER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71616" y="14264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</a:rPr>
              <a:t>₹25,000 / year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81344" y="175564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C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Inspire the next generation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81344" y="2194560"/>
            <a:ext cx="243230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an entire Baatein session series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mentioned in session communications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impact summary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 in CSB digital channels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volunteer facilitation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 for the Next Chapter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years of proof. Now it's time to scale.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605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53312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69848" y="1335024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9848" y="1335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2026–27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69848" y="1627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the Scholars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" y="2048256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increased corporate support, expand Vidya Vritti from 2 to 4 scholars per year. Introduce a formal alumni mentorship platform.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27448" y="1170432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27448" y="1170432"/>
            <a:ext cx="41605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53312"/>
            <a:ext cx="475488" cy="4754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77256" y="1335024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F0A500">
              <a:alpha val="20000"/>
            </a:srgbClr>
          </a:solidFill>
          <a:ln w="12700">
            <a:solidFill>
              <a:srgbClr val="F0A500">
                <a:alpha val="5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77256" y="1335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2027–29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477256" y="1627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Programmes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892040" y="2048256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digital literacy and coding camps for scholars. Extend Pratibha Poshan to neighbouring government schools beyond Chinmaya Vidyalaya.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20040" y="31089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108960"/>
            <a:ext cx="4160520" cy="731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91840"/>
            <a:ext cx="475488" cy="47548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69848" y="3273552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1D3557">
              <a:alpha val="20000"/>
            </a:srgbClr>
          </a:solidFill>
          <a:ln w="12700">
            <a:solidFill>
              <a:srgbClr val="1D3557">
                <a:alpha val="5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69848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3557"/>
                </a:solidFill>
              </a:rPr>
              <a:t>2029–30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1069848" y="3566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Expansion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84632" y="3986784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model in 3 other Chinmaya Vidyalaya schools across Jharkhand. Build a replicable blueprint for alumni-powered school scholarship.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727448" y="31089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27448" y="3108960"/>
            <a:ext cx="4160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91840"/>
            <a:ext cx="475488" cy="47548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477256" y="3273552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E63946">
              <a:alpha val="20000"/>
            </a:srgbClr>
          </a:solidFill>
          <a:ln w="12700">
            <a:solidFill>
              <a:srgbClr val="E63946">
                <a:alpha val="50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477256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</a:rPr>
              <a:t>2030+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477256" y="3566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Scholar Milestone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4892040" y="3986784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100 cumulative Vidya Vritti scholars. Establish a formal CSB endowment fund ensuring perpetual scholarship funding independent of annual drives.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Support Enables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specific, and directly tied to scholar outcomes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09728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8503920" cy="4114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48840" y="11704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Funds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0" y="11704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11704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581912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3677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₹500/month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163677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and stationery for 1 scholar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1636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12280" y="16367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 completes Class XI with full materials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148840"/>
            <a:ext cx="8503920" cy="530352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0370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₹1,250/month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220370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monthly tuition fee for 1 scholar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220370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12280" y="22037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 attends every class, no fee anxiety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71576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706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₹15,000 lump sum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48840" y="277063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 of complete scholarship support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277063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27706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Scholar's entire annual education cost covered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282696"/>
            <a:ext cx="8503920" cy="530352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33756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₹30,000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48840" y="333756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2-year Vidya Vritti scholarship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0" y="333756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Class XI &amp; XII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12280" y="33375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 reaches the board exam finish line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849624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904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₹75,000/year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48840" y="39044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Pratibha Poshan for 5 junior students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39044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12280" y="39044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students in Class VII–X supported monthly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416552"/>
            <a:ext cx="8503920" cy="530352"/>
          </a:xfrm>
          <a:prstGeom prst="rect">
            <a:avLst/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47141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 Lakh/year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48840" y="447141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Gold CSR Partnership – full scholar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0" y="4471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12280" y="447141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transformation of one life + recognition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846320"/>
            <a:ext cx="8503920" cy="201168"/>
          </a:xfrm>
          <a:prstGeom prst="roundRect">
            <a:avLst>
              <a:gd name="adj" fmla="val 22727"/>
            </a:avLst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</a:rPr>
              <a:t>All donations are eligible for 50% tax deduction under Section 80G  •  Donate at chinmayasmiles.org/donation-form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the Movement.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scholars transformed. Hundreds more waiting for their chance.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2468880" cy="2240280"/>
          </a:xfrm>
          <a:prstGeom prst="roundRect">
            <a:avLst>
              <a:gd name="adj" fmla="val 4898"/>
            </a:avLst>
          </a:prstGeom>
          <a:solidFill>
            <a:srgbClr val="028090">
              <a:alpha val="20000"/>
            </a:srgbClr>
          </a:solidFill>
          <a:ln w="25400">
            <a:solidFill>
              <a:srgbClr val="F0A5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81328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17627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66928" y="2560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0C8D8"/>
                </a:solidFill>
              </a:rPr>
              <a:t>Fund a scholar's future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chinmayasmiles.org/donation-form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91840" y="1353312"/>
            <a:ext cx="2468880" cy="2240280"/>
          </a:xfrm>
          <a:prstGeom prst="roundRect">
            <a:avLst>
              <a:gd name="adj" fmla="val 4898"/>
            </a:avLst>
          </a:prstGeom>
          <a:solidFill>
            <a:srgbClr val="028090">
              <a:alpha val="20000"/>
            </a:srgbClr>
          </a:solidFill>
          <a:ln w="254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81328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1568" y="217627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VOLUNTEER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01568" y="2560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0C8D8"/>
                </a:solidFill>
              </a:rPr>
              <a:t>Mentor, coordinate, speak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401568" y="29077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chinmayasmiles.org/our-team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126480" y="1353312"/>
            <a:ext cx="2468880" cy="2240280"/>
          </a:xfrm>
          <a:prstGeom prst="roundRect">
            <a:avLst>
              <a:gd name="adj" fmla="val 4898"/>
            </a:avLst>
          </a:prstGeom>
          <a:solidFill>
            <a:srgbClr val="028090">
              <a:alpha val="20000"/>
            </a:srgbClr>
          </a:solidFill>
          <a:ln w="25400">
            <a:solidFill>
              <a:srgbClr val="457B9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481328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6208" y="217627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236208" y="2560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0C8D8"/>
                </a:solidFill>
              </a:rPr>
              <a:t>CSR &amp; corporate giving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6236208" y="29077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Write to: chinmayasmilesback@gmail.com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3858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www.chinmayasmiles.org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ADC"/>
                </a:solidFill>
              </a:rPr>
              <a:t>chinmayasmilesback@gmail.com   •   facebook.com/chinmayasmilesback   •   Chinmaya Vidyalaya Bokaro, Jharkhand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ABB"/>
                </a:solidFill>
              </a:rPr>
              <a:t>"Every child deserves a shot. With your support, CSB ensures the most deserving get theirs."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Chinmaya Smiles Back – Donor Presentation 2026</dc:title>
  <dc:subject>PptxGenJS Presentation</dc:subject>
  <dc:creator>Chinmaya Smiles Back</dc:creator>
  <cp:lastModifiedBy>Chinmaya Smiles Back</cp:lastModifiedBy>
  <cp:revision>1</cp:revision>
  <dcterms:created xsi:type="dcterms:W3CDTF">2026-03-17T17:07:21Z</dcterms:created>
  <dcterms:modified xsi:type="dcterms:W3CDTF">2026-03-17T17:07:21Z</dcterms:modified>
</cp:coreProperties>
</file>